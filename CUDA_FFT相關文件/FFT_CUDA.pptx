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1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  <p:sldMasterId id="2147483685" r:id="rId16"/>
    <p:sldMasterId id="2147483708" r:id="rId17"/>
  </p:sldMasterIdLst>
  <p:notesMasterIdLst>
    <p:notesMasterId r:id="rId22"/>
  </p:notesMasterIdLst>
  <p:handoutMasterIdLst>
    <p:handoutMasterId r:id="rId23"/>
  </p:handoutMasterIdLst>
  <p:sldIdLst>
    <p:sldId id="1263" r:id="rId18"/>
    <p:sldId id="1264" r:id="rId19"/>
    <p:sldId id="1265" r:id="rId20"/>
    <p:sldId id="1266" r:id="rId21"/>
  </p:sldIdLst>
  <p:sldSz cx="9144000" cy="5143500" type="screen16x9"/>
  <p:notesSz cx="7104063" cy="10234613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" userDrawn="1">
          <p15:clr>
            <a:srgbClr val="A4A3A4"/>
          </p15:clr>
        </p15:guide>
        <p15:guide id="2" pos="28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46">
          <p15:clr>
            <a:srgbClr val="A4A3A4"/>
          </p15:clr>
        </p15:guide>
        <p15:guide id="2" pos="225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1602091" initials="1" lastIdx="0" clrIdx="0"/>
  <p:cmAuthor id="1" name="Vic VH Huang 黃彥樺" initials="VVH黃" lastIdx="2" clrIdx="0"/>
  <p:cmAuthor id="2" name="Johnny Yang 楊善" initials="JY楊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FF"/>
    <a:srgbClr val="996633"/>
    <a:srgbClr val="FF9B9B"/>
    <a:srgbClr val="ED0B6C"/>
    <a:srgbClr val="336699"/>
    <a:srgbClr val="C0C0C0"/>
    <a:srgbClr val="F2F2F2"/>
    <a:srgbClr val="F8F8F8"/>
    <a:srgbClr val="CE3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54" autoAdjust="0"/>
    <p:restoredTop sz="96429" autoAdjust="0"/>
  </p:normalViewPr>
  <p:slideViewPr>
    <p:cSldViewPr snapToGrid="0" snapToObjects="1" showGuides="1">
      <p:cViewPr varScale="1">
        <p:scale>
          <a:sx n="139" d="100"/>
          <a:sy n="139" d="100"/>
        </p:scale>
        <p:origin x="1236" y="606"/>
      </p:cViewPr>
      <p:guideLst>
        <p:guide orient="horz" pos="10"/>
        <p:guide pos="2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-3822" y="-72"/>
      </p:cViewPr>
      <p:guideLst>
        <p:guide orient="horz" pos="3346"/>
        <p:guide pos="225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D57B270-C74B-471D-B383-1C29E946AC0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938B450-74C5-4B74-AE7C-9595094673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9935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C20998-D27E-49AD-A846-29433AB4925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B49B736-9D47-4B7E-9D53-4FA46E3FC2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7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5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1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16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6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7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7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7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7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Cover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94472" y="644580"/>
            <a:ext cx="7117908" cy="1857461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PowerPoint Presentation</a:t>
            </a:r>
            <a:br>
              <a:rPr lang="en-US" altLang="zh-TW" dirty="0" smtClean="0"/>
            </a:br>
            <a:r>
              <a:rPr lang="en-US" altLang="zh-TW" dirty="0" smtClean="0"/>
              <a:t>Title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3711" y="4643572"/>
            <a:ext cx="2713548" cy="313440"/>
          </a:xfrm>
        </p:spPr>
        <p:txBody>
          <a:bodyPr anchor="b"/>
          <a:lstStyle>
            <a:lvl1pPr>
              <a:defRPr sz="1200">
                <a:solidFill>
                  <a:srgbClr val="005087"/>
                </a:solidFill>
              </a:defRPr>
            </a:lvl1pPr>
          </a:lstStyle>
          <a:p>
            <a:fld id="{04F91CFF-C618-416A-B884-C78642397E34}" type="datetimeFigureOut">
              <a:rPr lang="zh-CN" altLang="en-US" smtClean="0"/>
              <a:t>2026/3/27</a:t>
            </a:fld>
            <a:endParaRPr lang="zh-CN" altLang="en-US" dirty="0"/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2" hasCustomPrompt="1"/>
          </p:nvPr>
        </p:nvSpPr>
        <p:spPr>
          <a:xfrm>
            <a:off x="533348" y="4006766"/>
            <a:ext cx="2713911" cy="63680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>
                <a:solidFill>
                  <a:srgbClr val="005087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 smtClean="0"/>
              <a:t>Presenter’s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 smtClean="0"/>
              <a:t>Presenter’s Title / Department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7869555" y="4354830"/>
            <a:ext cx="1274446" cy="788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Agenda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623917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623917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reak Page_1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40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/>
          <p:cNvSpPr txBox="1"/>
          <p:nvPr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endParaRPr lang="en-US" dirty="0"/>
          </a:p>
        </p:txBody>
      </p:sp>
      <p:sp>
        <p:nvSpPr>
          <p:cNvPr id="8" name="文字方塊 13"/>
          <p:cNvSpPr txBox="1"/>
          <p:nvPr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1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Breaks </a:t>
            </a:r>
            <a:r>
              <a:rPr lang="en-US" dirty="0"/>
              <a:t>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576" y="4558949"/>
            <a:ext cx="835162" cy="2954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2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3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23888" y="1725111"/>
            <a:ext cx="7886700" cy="1696751"/>
          </a:xfrm>
        </p:spPr>
        <p:txBody>
          <a:bodyPr anchor="ctr">
            <a:normAutofit/>
          </a:bodyPr>
          <a:lstStyle>
            <a:lvl1pPr algn="ctr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/>
              <a:t>Tap Into The Possibilities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2565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91CFF-C618-416A-B884-C78642397E34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2026/3/27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8A874-6B5C-4EEB-81DE-59AFD24DDCDC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7461426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6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7" name="文字方塊 13"/>
          <p:cNvSpPr txBox="1"/>
          <p:nvPr userDrawn="1"/>
        </p:nvSpPr>
        <p:spPr>
          <a:xfrm>
            <a:off x="478153" y="4919549"/>
            <a:ext cx="3378473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©</a:t>
            </a:r>
            <a:r>
              <a:rPr kumimoji="1" lang="en-US" sz="500" dirty="0">
                <a:solidFill>
                  <a:srgbClr val="000000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2022 AUO Corporation Proprietary and Confidential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7461426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6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7" name="文字方塊 13"/>
          <p:cNvSpPr txBox="1"/>
          <p:nvPr userDrawn="1"/>
        </p:nvSpPr>
        <p:spPr>
          <a:xfrm>
            <a:off x="478153" y="4919549"/>
            <a:ext cx="3378473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©</a:t>
            </a:r>
            <a:r>
              <a:rPr kumimoji="1" lang="en-US" sz="500" dirty="0">
                <a:solidFill>
                  <a:srgbClr val="000000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2022 AUO Corporation Proprietary and Confidential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686927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  AUO Corporation Proprietary</a:t>
            </a:r>
            <a:endParaRPr kumimoji="1" lang="en-US" sz="500" dirty="0">
              <a:solidFill>
                <a:srgbClr val="FFFFFF"/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4" y="4961071"/>
            <a:ext cx="85361" cy="1385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/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380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" y="2633750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pic>
        <p:nvPicPr>
          <p:cNvPr id="21" name="圖片 2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5" y="-586026"/>
            <a:ext cx="2299235" cy="2011830"/>
          </a:xfrm>
          <a:prstGeom prst="rect">
            <a:avLst/>
          </a:prstGeom>
        </p:spPr>
      </p:pic>
      <p:sp>
        <p:nvSpPr>
          <p:cNvPr id="39" name="圖片版面配置區 2"/>
          <p:cNvSpPr>
            <a:spLocks noGrp="1"/>
          </p:cNvSpPr>
          <p:nvPr>
            <p:ph type="pic" sz="quarter" idx="17"/>
          </p:nvPr>
        </p:nvSpPr>
        <p:spPr>
          <a:xfrm>
            <a:off x="23166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0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2316699" y="2633750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45" name="圖片版面配置區 2"/>
          <p:cNvSpPr>
            <a:spLocks noGrp="1"/>
          </p:cNvSpPr>
          <p:nvPr>
            <p:ph type="pic" sz="quarter" idx="20"/>
          </p:nvPr>
        </p:nvSpPr>
        <p:spPr>
          <a:xfrm>
            <a:off x="45952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6" name="文字版面配置區 4"/>
          <p:cNvSpPr>
            <a:spLocks noGrp="1"/>
          </p:cNvSpPr>
          <p:nvPr>
            <p:ph type="body" sz="quarter" idx="21" hasCustomPrompt="1"/>
          </p:nvPr>
        </p:nvSpPr>
        <p:spPr>
          <a:xfrm>
            <a:off x="4595299" y="2633750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18" name="圖片版面配置區 2"/>
          <p:cNvSpPr>
            <a:spLocks noGrp="1"/>
          </p:cNvSpPr>
          <p:nvPr>
            <p:ph type="pic" sz="quarter" idx="22"/>
          </p:nvPr>
        </p:nvSpPr>
        <p:spPr>
          <a:xfrm>
            <a:off x="6873900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23" hasCustomPrompt="1"/>
          </p:nvPr>
        </p:nvSpPr>
        <p:spPr>
          <a:xfrm>
            <a:off x="6873900" y="2633750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0" name="圖片版面配置區 2"/>
          <p:cNvSpPr>
            <a:spLocks noGrp="1"/>
          </p:cNvSpPr>
          <p:nvPr>
            <p:ph type="pic" sz="quarter" idx="24"/>
          </p:nvPr>
        </p:nvSpPr>
        <p:spPr>
          <a:xfrm>
            <a:off x="380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2" name="文字版面配置區 4"/>
          <p:cNvSpPr>
            <a:spLocks noGrp="1"/>
          </p:cNvSpPr>
          <p:nvPr>
            <p:ph type="body" sz="quarter" idx="25" hasCustomPrompt="1"/>
          </p:nvPr>
        </p:nvSpPr>
        <p:spPr>
          <a:xfrm>
            <a:off x="38099" y="4612616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4" name="圖片版面配置區 2"/>
          <p:cNvSpPr>
            <a:spLocks noGrp="1"/>
          </p:cNvSpPr>
          <p:nvPr>
            <p:ph type="pic" sz="quarter" idx="26"/>
          </p:nvPr>
        </p:nvSpPr>
        <p:spPr>
          <a:xfrm>
            <a:off x="23166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5" name="文字版面配置區 4"/>
          <p:cNvSpPr>
            <a:spLocks noGrp="1"/>
          </p:cNvSpPr>
          <p:nvPr>
            <p:ph type="body" sz="quarter" idx="27" hasCustomPrompt="1"/>
          </p:nvPr>
        </p:nvSpPr>
        <p:spPr>
          <a:xfrm>
            <a:off x="2316699" y="4612616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6" name="圖片版面配置區 2"/>
          <p:cNvSpPr>
            <a:spLocks noGrp="1"/>
          </p:cNvSpPr>
          <p:nvPr>
            <p:ph type="pic" sz="quarter" idx="28"/>
          </p:nvPr>
        </p:nvSpPr>
        <p:spPr>
          <a:xfrm>
            <a:off x="45952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7" name="文字版面配置區 4"/>
          <p:cNvSpPr>
            <a:spLocks noGrp="1"/>
          </p:cNvSpPr>
          <p:nvPr>
            <p:ph type="body" sz="quarter" idx="29" hasCustomPrompt="1"/>
          </p:nvPr>
        </p:nvSpPr>
        <p:spPr>
          <a:xfrm>
            <a:off x="4595299" y="4612616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8" name="圖片版面配置區 2"/>
          <p:cNvSpPr>
            <a:spLocks noGrp="1"/>
          </p:cNvSpPr>
          <p:nvPr>
            <p:ph type="pic" sz="quarter" idx="30"/>
          </p:nvPr>
        </p:nvSpPr>
        <p:spPr>
          <a:xfrm>
            <a:off x="6873900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9" name="文字版面配置區 4"/>
          <p:cNvSpPr>
            <a:spLocks noGrp="1"/>
          </p:cNvSpPr>
          <p:nvPr>
            <p:ph type="body" sz="quarter" idx="31" hasCustomPrompt="1"/>
          </p:nvPr>
        </p:nvSpPr>
        <p:spPr>
          <a:xfrm>
            <a:off x="6873900" y="4612616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40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/>
          <p:cNvSpPr txBox="1"/>
          <p:nvPr userDrawn="1"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16"/>
          <p:cNvSpPr>
            <a:spLocks noGrp="1"/>
          </p:cNvSpPr>
          <p:nvPr>
            <p:ph sz="quarter" idx="22" hasCustomPrompt="1"/>
          </p:nvPr>
        </p:nvSpPr>
        <p:spPr>
          <a:xfrm>
            <a:off x="557555" y="1536635"/>
            <a:ext cx="8379931" cy="3330370"/>
          </a:xfrm>
        </p:spPr>
        <p:txBody>
          <a:bodyPr>
            <a:normAutofit/>
          </a:bodyPr>
          <a:lstStyle>
            <a:lvl1pPr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1pPr>
            <a:lvl2pPr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2pPr>
            <a:lvl3pPr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3pPr>
          </a:lstStyle>
          <a:p>
            <a:pPr lvl="0"/>
            <a:r>
              <a:rPr lang="en-US" altLang="zh-TW" dirty="0" smtClean="0"/>
              <a:t>Gill Sans MT </a:t>
            </a:r>
          </a:p>
          <a:p>
            <a:pPr lvl="0"/>
            <a:r>
              <a:rPr lang="zh-TW" altLang="en-US" dirty="0" smtClean="0"/>
              <a:t>微軟正黑</a:t>
            </a:r>
          </a:p>
        </p:txBody>
      </p:sp>
      <p:sp>
        <p:nvSpPr>
          <p:cNvPr id="7" name="標題 6"/>
          <p:cNvSpPr>
            <a:spLocks noGrp="1"/>
          </p:cNvSpPr>
          <p:nvPr>
            <p:ph type="title" hasCustomPrompt="1"/>
          </p:nvPr>
        </p:nvSpPr>
        <p:spPr>
          <a:xfrm>
            <a:off x="527867" y="231492"/>
            <a:ext cx="7374505" cy="1170130"/>
          </a:xfrm>
        </p:spPr>
        <p:txBody>
          <a:bodyPr/>
          <a:lstStyle/>
          <a:p>
            <a:r>
              <a:rPr lang="en-US" altLang="zh-TW" dirty="0" smtClean="0"/>
              <a:t>Content</a:t>
            </a:r>
            <a:br>
              <a:rPr lang="en-US" altLang="zh-TW" dirty="0" smtClean="0"/>
            </a:br>
            <a:r>
              <a:rPr lang="en-US" altLang="zh-TW" dirty="0" smtClean="0"/>
              <a:t>Gill Sans MT or </a:t>
            </a:r>
            <a:r>
              <a:rPr lang="zh-TW" altLang="en-US" dirty="0" smtClean="0"/>
              <a:t>微軟正黑</a:t>
            </a:r>
            <a:endParaRPr lang="zh-TW" alt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25"/>
          </p:nvPr>
        </p:nvSpPr>
        <p:spPr>
          <a:xfrm>
            <a:off x="5427095" y="4767264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TW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61427" y="-55084"/>
            <a:ext cx="1759697" cy="1768293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9" name="文字方塊 13"/>
          <p:cNvSpPr txBox="1"/>
          <p:nvPr userDrawn="1"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30" tIns="45715" rIns="91430" bIns="45715" numCol="1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dirty="0">
              <a:solidFill>
                <a:srgbClr val="000000"/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/>
          <p:cNvSpPr txBox="1"/>
          <p:nvPr userDrawn="1"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>
                <a:solidFill>
                  <a:srgbClr val="FFFFFF">
                    <a:lumMod val="50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  </a:t>
            </a:r>
            <a:r>
              <a:rPr kumimoji="1" lang="en-US" sz="500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4" y="4961071"/>
            <a:ext cx="85361" cy="1385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>
                <a:solidFill>
                  <a:srgbClr val="FFFFFF">
                    <a:lumMod val="50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>
            <a:lvl1pPr algn="r">
              <a:defRPr sz="800" b="1" i="0" u="none">
                <a:solidFill>
                  <a:srgbClr val="808080"/>
                </a:solidFill>
                <a:latin typeface="Gill Sans MT" panose="020B0502020104020203"/>
              </a:defRPr>
            </a:lvl1pPr>
          </a:lstStyle>
          <a:p>
            <a:r>
              <a:rPr lang="en-US" altLang="zh-TW" dirty="0" smtClean="0"/>
              <a:t>​‌</a:t>
            </a:r>
            <a:r>
              <a:rPr lang="en-US" altLang="zh-TW" dirty="0" err="1" smtClean="0"/>
              <a:t>Classify:AUO-General</a:t>
            </a:r>
            <a:r>
              <a:rPr lang="en-US" altLang="zh-TW" dirty="0" smtClean="0"/>
              <a:t>‌​</a:t>
            </a:r>
            <a:endParaRPr lang="zh-TW" altLang="en-US" dirty="0"/>
          </a:p>
        </p:txBody>
      </p:sp>
    </p:spTree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6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6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7" name="文字方塊 13"/>
          <p:cNvSpPr txBox="1"/>
          <p:nvPr userDrawn="1"/>
        </p:nvSpPr>
        <p:spPr>
          <a:xfrm>
            <a:off x="478149" y="4933094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Cover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94472" y="644580"/>
            <a:ext cx="7117908" cy="1857461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PowerPoint Presentation</a:t>
            </a:r>
            <a:br>
              <a:rPr lang="en-US" altLang="zh-TW" dirty="0" smtClean="0"/>
            </a:br>
            <a:r>
              <a:rPr lang="en-US" altLang="zh-TW" dirty="0" smtClean="0"/>
              <a:t>Title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3711" y="4643572"/>
            <a:ext cx="2713548" cy="313440"/>
          </a:xfrm>
        </p:spPr>
        <p:txBody>
          <a:bodyPr anchor="b"/>
          <a:lstStyle>
            <a:lvl1pPr>
              <a:defRPr sz="1200">
                <a:solidFill>
                  <a:srgbClr val="005087"/>
                </a:solidFill>
              </a:defRPr>
            </a:lvl1pPr>
          </a:lstStyle>
          <a:p>
            <a:fld id="{04F91CFF-C618-416A-B884-C78642397E34}" type="datetimeFigureOut">
              <a:rPr lang="zh-CN" altLang="en-US" smtClean="0"/>
              <a:t>2026/3/27</a:t>
            </a:fld>
            <a:endParaRPr lang="zh-CN" altLang="en-US" dirty="0"/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2" hasCustomPrompt="1"/>
          </p:nvPr>
        </p:nvSpPr>
        <p:spPr>
          <a:xfrm>
            <a:off x="533348" y="4006766"/>
            <a:ext cx="2713911" cy="63680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>
                <a:solidFill>
                  <a:srgbClr val="005087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 smtClean="0"/>
              <a:t>Presenter’s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 smtClean="0"/>
              <a:t>Presenter’s Title / Department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7869555" y="4354830"/>
            <a:ext cx="1274446" cy="788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Agenda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623917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623917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reak Page_1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40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/>
          <p:cNvSpPr txBox="1"/>
          <p:nvPr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endParaRPr lang="en-US" dirty="0"/>
          </a:p>
        </p:txBody>
      </p:sp>
      <p:sp>
        <p:nvSpPr>
          <p:cNvPr id="8" name="文字方塊 13"/>
          <p:cNvSpPr txBox="1"/>
          <p:nvPr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1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Breaks </a:t>
            </a:r>
            <a:r>
              <a:rPr lang="en-US" dirty="0"/>
              <a:t>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576" y="4558949"/>
            <a:ext cx="835162" cy="2954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2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3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23888" y="1725111"/>
            <a:ext cx="7886700" cy="1696751"/>
          </a:xfrm>
        </p:spPr>
        <p:txBody>
          <a:bodyPr anchor="ctr">
            <a:normAutofit/>
          </a:bodyPr>
          <a:lstStyle>
            <a:lvl1pPr algn="ctr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/>
              <a:t>Tap Into The Possibilities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2565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91CFF-C618-416A-B884-C78642397E34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2026/3/27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8A874-6B5C-4EEB-81DE-59AFD24DDCDC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7461426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6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7" name="文字方塊 13"/>
          <p:cNvSpPr txBox="1"/>
          <p:nvPr userDrawn="1"/>
        </p:nvSpPr>
        <p:spPr>
          <a:xfrm>
            <a:off x="478153" y="4919549"/>
            <a:ext cx="3378473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©</a:t>
            </a:r>
            <a:r>
              <a:rPr kumimoji="1" lang="en-US" sz="500" dirty="0">
                <a:solidFill>
                  <a:srgbClr val="000000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2022 AUO Corporation Proprietary and Confidential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7461426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6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7" name="文字方塊 13"/>
          <p:cNvSpPr txBox="1"/>
          <p:nvPr userDrawn="1"/>
        </p:nvSpPr>
        <p:spPr>
          <a:xfrm>
            <a:off x="478153" y="4919549"/>
            <a:ext cx="3378473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>
                <a:solidFill>
                  <a:srgbClr val="000000"/>
                </a:solidFill>
                <a:latin typeface="Arial" panose="020B0604020202020204" pitchFamily="34" charset="0"/>
                <a:ea typeface="PMingLiU" panose="02020500000000000000" pitchFamily="18" charset="-120"/>
              </a:rPr>
              <a:t>©</a:t>
            </a:r>
            <a:r>
              <a:rPr kumimoji="1" lang="en-US" sz="500" dirty="0">
                <a:solidFill>
                  <a:srgbClr val="000000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2022 AUO Corporation Proprietary and Confidential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686927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  AUO Corporation Proprietary</a:t>
            </a:r>
            <a:endParaRPr kumimoji="1" lang="en-US" sz="500" dirty="0">
              <a:solidFill>
                <a:srgbClr val="FFFFFF"/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4" y="4961071"/>
            <a:ext cx="85361" cy="1385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/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/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380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" y="2633750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pic>
        <p:nvPicPr>
          <p:cNvPr id="21" name="圖片 2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5" y="-586026"/>
            <a:ext cx="2299235" cy="2011830"/>
          </a:xfrm>
          <a:prstGeom prst="rect">
            <a:avLst/>
          </a:prstGeom>
        </p:spPr>
      </p:pic>
      <p:sp>
        <p:nvSpPr>
          <p:cNvPr id="39" name="圖片版面配置區 2"/>
          <p:cNvSpPr>
            <a:spLocks noGrp="1"/>
          </p:cNvSpPr>
          <p:nvPr>
            <p:ph type="pic" sz="quarter" idx="17"/>
          </p:nvPr>
        </p:nvSpPr>
        <p:spPr>
          <a:xfrm>
            <a:off x="23166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0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2316699" y="2633750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45" name="圖片版面配置區 2"/>
          <p:cNvSpPr>
            <a:spLocks noGrp="1"/>
          </p:cNvSpPr>
          <p:nvPr>
            <p:ph type="pic" sz="quarter" idx="20"/>
          </p:nvPr>
        </p:nvSpPr>
        <p:spPr>
          <a:xfrm>
            <a:off x="45952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6" name="文字版面配置區 4"/>
          <p:cNvSpPr>
            <a:spLocks noGrp="1"/>
          </p:cNvSpPr>
          <p:nvPr>
            <p:ph type="body" sz="quarter" idx="21" hasCustomPrompt="1"/>
          </p:nvPr>
        </p:nvSpPr>
        <p:spPr>
          <a:xfrm>
            <a:off x="4595299" y="2633750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18" name="圖片版面配置區 2"/>
          <p:cNvSpPr>
            <a:spLocks noGrp="1"/>
          </p:cNvSpPr>
          <p:nvPr>
            <p:ph type="pic" sz="quarter" idx="22"/>
          </p:nvPr>
        </p:nvSpPr>
        <p:spPr>
          <a:xfrm>
            <a:off x="6873900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23" hasCustomPrompt="1"/>
          </p:nvPr>
        </p:nvSpPr>
        <p:spPr>
          <a:xfrm>
            <a:off x="6873900" y="2633750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0" name="圖片版面配置區 2"/>
          <p:cNvSpPr>
            <a:spLocks noGrp="1"/>
          </p:cNvSpPr>
          <p:nvPr>
            <p:ph type="pic" sz="quarter" idx="24"/>
          </p:nvPr>
        </p:nvSpPr>
        <p:spPr>
          <a:xfrm>
            <a:off x="380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2" name="文字版面配置區 4"/>
          <p:cNvSpPr>
            <a:spLocks noGrp="1"/>
          </p:cNvSpPr>
          <p:nvPr>
            <p:ph type="body" sz="quarter" idx="25" hasCustomPrompt="1"/>
          </p:nvPr>
        </p:nvSpPr>
        <p:spPr>
          <a:xfrm>
            <a:off x="38099" y="4612616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4" name="圖片版面配置區 2"/>
          <p:cNvSpPr>
            <a:spLocks noGrp="1"/>
          </p:cNvSpPr>
          <p:nvPr>
            <p:ph type="pic" sz="quarter" idx="26"/>
          </p:nvPr>
        </p:nvSpPr>
        <p:spPr>
          <a:xfrm>
            <a:off x="23166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5" name="文字版面配置區 4"/>
          <p:cNvSpPr>
            <a:spLocks noGrp="1"/>
          </p:cNvSpPr>
          <p:nvPr>
            <p:ph type="body" sz="quarter" idx="27" hasCustomPrompt="1"/>
          </p:nvPr>
        </p:nvSpPr>
        <p:spPr>
          <a:xfrm>
            <a:off x="2316699" y="4612616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6" name="圖片版面配置區 2"/>
          <p:cNvSpPr>
            <a:spLocks noGrp="1"/>
          </p:cNvSpPr>
          <p:nvPr>
            <p:ph type="pic" sz="quarter" idx="28"/>
          </p:nvPr>
        </p:nvSpPr>
        <p:spPr>
          <a:xfrm>
            <a:off x="45952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7" name="文字版面配置區 4"/>
          <p:cNvSpPr>
            <a:spLocks noGrp="1"/>
          </p:cNvSpPr>
          <p:nvPr>
            <p:ph type="body" sz="quarter" idx="29" hasCustomPrompt="1"/>
          </p:nvPr>
        </p:nvSpPr>
        <p:spPr>
          <a:xfrm>
            <a:off x="4595299" y="4612616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8" name="圖片版面配置區 2"/>
          <p:cNvSpPr>
            <a:spLocks noGrp="1"/>
          </p:cNvSpPr>
          <p:nvPr>
            <p:ph type="pic" sz="quarter" idx="30"/>
          </p:nvPr>
        </p:nvSpPr>
        <p:spPr>
          <a:xfrm>
            <a:off x="6873900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9" name="文字版面配置區 4"/>
          <p:cNvSpPr>
            <a:spLocks noGrp="1"/>
          </p:cNvSpPr>
          <p:nvPr>
            <p:ph type="body" sz="quarter" idx="31" hasCustomPrompt="1"/>
          </p:nvPr>
        </p:nvSpPr>
        <p:spPr>
          <a:xfrm>
            <a:off x="6873900" y="4612616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40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/>
          <p:cNvSpPr txBox="1"/>
          <p:nvPr userDrawn="1"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16"/>
          <p:cNvSpPr>
            <a:spLocks noGrp="1"/>
          </p:cNvSpPr>
          <p:nvPr>
            <p:ph sz="quarter" idx="22" hasCustomPrompt="1"/>
          </p:nvPr>
        </p:nvSpPr>
        <p:spPr>
          <a:xfrm>
            <a:off x="557555" y="1536635"/>
            <a:ext cx="8379931" cy="3330370"/>
          </a:xfrm>
        </p:spPr>
        <p:txBody>
          <a:bodyPr>
            <a:normAutofit/>
          </a:bodyPr>
          <a:lstStyle>
            <a:lvl1pPr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1pPr>
            <a:lvl2pPr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2pPr>
            <a:lvl3pPr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3pPr>
          </a:lstStyle>
          <a:p>
            <a:pPr lvl="0"/>
            <a:r>
              <a:rPr lang="en-US" altLang="zh-TW" dirty="0" smtClean="0"/>
              <a:t>Gill Sans MT </a:t>
            </a:r>
          </a:p>
          <a:p>
            <a:pPr lvl="0"/>
            <a:r>
              <a:rPr lang="zh-TW" altLang="en-US" dirty="0" smtClean="0"/>
              <a:t>微軟正黑</a:t>
            </a:r>
          </a:p>
        </p:txBody>
      </p:sp>
      <p:sp>
        <p:nvSpPr>
          <p:cNvPr id="7" name="標題 6"/>
          <p:cNvSpPr>
            <a:spLocks noGrp="1"/>
          </p:cNvSpPr>
          <p:nvPr>
            <p:ph type="title" hasCustomPrompt="1"/>
          </p:nvPr>
        </p:nvSpPr>
        <p:spPr>
          <a:xfrm>
            <a:off x="527867" y="231492"/>
            <a:ext cx="7374505" cy="1170130"/>
          </a:xfrm>
        </p:spPr>
        <p:txBody>
          <a:bodyPr/>
          <a:lstStyle/>
          <a:p>
            <a:r>
              <a:rPr lang="en-US" altLang="zh-TW" dirty="0" smtClean="0"/>
              <a:t>Content</a:t>
            </a:r>
            <a:br>
              <a:rPr lang="en-US" altLang="zh-TW" dirty="0" smtClean="0"/>
            </a:br>
            <a:r>
              <a:rPr lang="en-US" altLang="zh-TW" dirty="0" smtClean="0"/>
              <a:t>Gill Sans MT or </a:t>
            </a:r>
            <a:r>
              <a:rPr lang="zh-TW" altLang="en-US" dirty="0" smtClean="0"/>
              <a:t>微軟正黑</a:t>
            </a:r>
            <a:endParaRPr lang="zh-TW" alt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25"/>
          </p:nvPr>
        </p:nvSpPr>
        <p:spPr>
          <a:xfrm>
            <a:off x="5427095" y="4767264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TW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61427" y="-55084"/>
            <a:ext cx="1759697" cy="1768293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9" name="文字方塊 13"/>
          <p:cNvSpPr txBox="1"/>
          <p:nvPr userDrawn="1"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30" tIns="45715" rIns="91430" bIns="45715" numCol="1" anchor="t" anchorCtr="0" compatLnSpc="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dirty="0">
              <a:solidFill>
                <a:srgbClr val="000000"/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/>
          <p:cNvSpPr txBox="1"/>
          <p:nvPr userDrawn="1"/>
        </p:nvSpPr>
        <p:spPr>
          <a:xfrm>
            <a:off x="478150" y="4933096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>
                <a:solidFill>
                  <a:srgbClr val="FFFFFF">
                    <a:lumMod val="50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  </a:t>
            </a:r>
            <a:r>
              <a:rPr kumimoji="1" lang="en-US" sz="500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4" y="4961071"/>
            <a:ext cx="85361" cy="1385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>
                <a:solidFill>
                  <a:srgbClr val="FFFFFF">
                    <a:lumMod val="50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>
            <a:lvl1pPr algn="r">
              <a:defRPr sz="800" b="1" i="0" u="none">
                <a:solidFill>
                  <a:srgbClr val="808080"/>
                </a:solidFill>
                <a:latin typeface="Gill Sans MT" panose="020B0502020104020203"/>
              </a:defRPr>
            </a:lvl1pPr>
          </a:lstStyle>
          <a:p>
            <a:r>
              <a:rPr lang="en-US" altLang="zh-TW" dirty="0" smtClean="0"/>
              <a:t>​‌</a:t>
            </a:r>
            <a:r>
              <a:rPr lang="en-US" altLang="zh-TW" dirty="0" err="1" smtClean="0"/>
              <a:t>Classify:AUO-General</a:t>
            </a:r>
            <a:r>
              <a:rPr lang="en-US" altLang="zh-TW" dirty="0" smtClean="0"/>
              <a:t>‌​</a:t>
            </a:r>
            <a:endParaRPr lang="zh-TW" altLang="en-US" dirty="0"/>
          </a:p>
        </p:txBody>
      </p:sp>
    </p:spTree>
  </p:cSld>
  <p:clrMapOvr>
    <a:masterClrMapping/>
  </p:clrMapOvr>
  <p:hf sldNum="0"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6" y="-586026"/>
            <a:ext cx="2299235" cy="229923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6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7" name="文字方塊 13"/>
          <p:cNvSpPr txBox="1"/>
          <p:nvPr userDrawn="1"/>
        </p:nvSpPr>
        <p:spPr>
          <a:xfrm>
            <a:off x="478149" y="4933094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5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  </a:t>
            </a:r>
            <a:r>
              <a:rPr kumimoji="1"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kumimoji="1"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900" dirty="0" smtClean="0">
                <a:solidFill>
                  <a:srgbClr val="FFFFFF">
                    <a:lumMod val="50000"/>
                  </a:srgbClr>
                </a:solidFill>
                <a:ea typeface="PMingLiU" panose="02020500000000000000" pitchFamily="18" charset="-120"/>
              </a:rPr>
              <a:t>©</a:t>
            </a:r>
            <a:endParaRPr kumimoji="1" lang="zh-TW" altLang="en-US" sz="1400" dirty="0">
              <a:solidFill>
                <a:srgbClr val="FFFFFF">
                  <a:lumMod val="50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Cover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494472" y="644580"/>
            <a:ext cx="7117908" cy="1857461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PowerPoint Presentation</a:t>
            </a:r>
            <a:br>
              <a:rPr lang="en-US" altLang="zh-TW" dirty="0" smtClean="0"/>
            </a:br>
            <a:r>
              <a:rPr lang="en-US" altLang="zh-TW" dirty="0" smtClean="0"/>
              <a:t>Title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3711" y="4643572"/>
            <a:ext cx="2713548" cy="313440"/>
          </a:xfrm>
        </p:spPr>
        <p:txBody>
          <a:bodyPr anchor="b"/>
          <a:lstStyle>
            <a:lvl1pPr>
              <a:defRPr sz="1200">
                <a:solidFill>
                  <a:srgbClr val="005087"/>
                </a:solidFill>
              </a:defRPr>
            </a:lvl1pPr>
          </a:lstStyle>
          <a:p>
            <a:r>
              <a:rPr lang="en-US" dirty="0" smtClean="0"/>
              <a:t>YYYY/MM/DD</a:t>
            </a:r>
            <a:endParaRPr lang="en-US" dirty="0"/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2" hasCustomPrompt="1"/>
          </p:nvPr>
        </p:nvSpPr>
        <p:spPr>
          <a:xfrm>
            <a:off x="533348" y="4006766"/>
            <a:ext cx="2713911" cy="63680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400">
                <a:solidFill>
                  <a:srgbClr val="005087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 smtClean="0"/>
              <a:t>Presenter’s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 smtClean="0"/>
              <a:t>Presenter’s Title / Department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7869555" y="4354830"/>
            <a:ext cx="1274446" cy="788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623916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623916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 Page_1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Page_2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Page_3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94472" y="940326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6" y="-586026"/>
            <a:ext cx="2299235" cy="2299235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6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8" name="文字方塊 13"/>
          <p:cNvSpPr txBox="1"/>
          <p:nvPr userDrawn="1"/>
        </p:nvSpPr>
        <p:spPr>
          <a:xfrm>
            <a:off x="478149" y="4933094"/>
            <a:ext cx="1153376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en-US" sz="500" dirty="0" smtClean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00" dirty="0" smtClean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  <a:endParaRPr lang="en-US" sz="500" dirty="0">
              <a:solidFill>
                <a:srgbClr val="000000">
                  <a:lumMod val="75000"/>
                  <a:lumOff val="25000"/>
                  <a:alpha val="65000"/>
                </a:srgb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20230" y="4961073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dirty="0" smtClean="0">
                <a:solidFill>
                  <a:srgbClr val="FFFFFF">
                    <a:lumMod val="50000"/>
                  </a:srgbClr>
                </a:solidFill>
              </a:rPr>
              <a:t>©</a:t>
            </a:r>
            <a:endParaRPr lang="zh-TW" altLang="en-US" sz="14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ing Pag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23888" y="1725110"/>
            <a:ext cx="7886700" cy="1696751"/>
          </a:xfrm>
        </p:spPr>
        <p:txBody>
          <a:bodyPr anchor="ctr">
            <a:normAutofit/>
          </a:bodyPr>
          <a:lstStyle>
            <a:lvl1pPr algn="ctr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/>
              <a:t>Tap Into The Possibilities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7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7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/>
          <p:cNvSpPr txBox="1"/>
          <p:nvPr userDrawn="1"/>
        </p:nvSpPr>
        <p:spPr>
          <a:xfrm>
            <a:off x="478154" y="4919549"/>
            <a:ext cx="3378473" cy="1692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en-US" sz="500" dirty="0">
                <a:solidFill>
                  <a:srgbClr val="000000">
                    <a:alpha val="65000"/>
                  </a:srgbClr>
                </a:solidFill>
                <a:latin typeface="Arial" panose="020B0604020202020204" pitchFamily="34" charset="0"/>
              </a:rPr>
              <a:t>©</a:t>
            </a:r>
            <a:r>
              <a:rPr lang="en-US" sz="500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61421" y="-55084"/>
            <a:ext cx="1759697" cy="1768293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9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69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age with T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7461422" y="6179"/>
            <a:ext cx="1676401" cy="1707031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9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9" name="文字方塊 13"/>
          <p:cNvSpPr txBox="1"/>
          <p:nvPr userDrawn="1"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800"/>
            <a:r>
              <a:rPr lang="en-US" altLang="zh-TW" sz="900" dirty="0">
                <a:solidFill>
                  <a:srgbClr val="FFFFFF">
                    <a:lumMod val="50000"/>
                  </a:srgbClr>
                </a:solidFill>
              </a:rPr>
              <a:t>©</a:t>
            </a:r>
            <a:endParaRPr lang="zh-TW" altLang="en-US" sz="14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4" name="Freeform 5"/>
          <p:cNvSpPr>
            <a:spLocks noChangeAspect="1" noEditPoints="1"/>
          </p:cNvSpPr>
          <p:nvPr userDrawn="1"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685800"/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61421" y="-55084"/>
            <a:ext cx="1759697" cy="1768293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9" name="文字方塊 13"/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69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16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Mabry Pro" panose="020D0503040002040303"/>
          <a:ea typeface="Noto Sans TC" panose="020B0500000000000000" pitchFamily="34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Mabry Pro" panose="020D0503040002040303" pitchFamily="34" charset="0"/>
          <a:ea typeface="Noto Sans TC" panose="020B0500000000000000" pitchFamily="34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abry Pro" panose="020D0503040002040303" pitchFamily="34" charset="0"/>
          <a:ea typeface="Noto Sans TC" panose="020B0500000000000000" pitchFamily="34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Mabry Pro" panose="020D0503040002040303" pitchFamily="34" charset="0"/>
          <a:ea typeface="Noto Sans TC" panose="020B0500000000000000" pitchFamily="34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abry Pro" panose="020D0503040002040303" pitchFamily="34" charset="0"/>
          <a:ea typeface="Noto Sans TC" panose="020B0500000000000000" pitchFamily="34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abry Pro" panose="020D0503040002040303" pitchFamily="34" charset="0"/>
          <a:ea typeface="Noto Sans TC" panose="020B0500000000000000" pitchFamily="34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abry Pro" panose="020D0503040002040303" pitchFamily="34" charset="0"/>
          <a:ea typeface="Noto Sans TC" panose="020B0500000000000000" pitchFamily="34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2612"/>
            <a:ext cx="7886700" cy="554292"/>
          </a:xfrm>
          <a:prstGeom prst="rect">
            <a:avLst/>
          </a:prstGeom>
        </p:spPr>
        <p:txBody>
          <a:bodyPr lIns="91430" tIns="45715" rIns="0" bIns="45715"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401"/>
            <a:ext cx="7886700" cy="3718322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/>
        </p:nvSpPr>
        <p:spPr>
          <a:xfrm rot="5400000">
            <a:off x="68384" y="130194"/>
            <a:ext cx="277122" cy="428177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30" tIns="45715" rIns="91430" bIns="45715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453" y="4767881"/>
            <a:ext cx="655383" cy="2808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7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j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30" tIns="45715" rIns="91430" bIns="45715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l" defTabSz="9144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91CFF-C618-416A-B884-C78642397E34}" type="datetimeFigureOut">
              <a:rPr kumimoji="1" lang="zh-CN" altLang="en-US" smtClean="0">
                <a:solidFill>
                  <a:srgbClr val="000000">
                    <a:tint val="75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2026/3/27</a:t>
            </a:fld>
            <a:endParaRPr kumimoji="1" lang="zh-CN" altLang="en-US" dirty="0">
              <a:solidFill>
                <a:srgbClr val="000000">
                  <a:tint val="75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 defTabSz="9144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>
              <a:solidFill>
                <a:srgbClr val="000000">
                  <a:tint val="75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r" defTabSz="9144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8A874-6B5C-4EEB-81DE-59AFD24DDCDC}" type="slidenum">
              <a:rPr kumimoji="1" lang="zh-CN" altLang="en-US" smtClean="0">
                <a:solidFill>
                  <a:srgbClr val="000000">
                    <a:tint val="75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‹#›</a:t>
            </a:fld>
            <a:endParaRPr kumimoji="1" lang="zh-CN" altLang="en-US" dirty="0">
              <a:solidFill>
                <a:srgbClr val="000000">
                  <a:tint val="75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30" tIns="45715" rIns="91430" bIns="45715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l" defTabSz="9144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91CFF-C618-416A-B884-C78642397E34}" type="datetimeFigureOut">
              <a:rPr kumimoji="1" lang="zh-CN" altLang="en-US" smtClean="0">
                <a:solidFill>
                  <a:srgbClr val="000000">
                    <a:tint val="75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2026/3/27</a:t>
            </a:fld>
            <a:endParaRPr kumimoji="1" lang="zh-CN" altLang="en-US" dirty="0">
              <a:solidFill>
                <a:srgbClr val="000000">
                  <a:tint val="75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 defTabSz="9144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>
              <a:solidFill>
                <a:srgbClr val="000000">
                  <a:tint val="75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r" defTabSz="9144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8A874-6B5C-4EEB-81DE-59AFD24DDCDC}" type="slidenum">
              <a:rPr kumimoji="1" lang="zh-CN" altLang="en-US" smtClean="0">
                <a:solidFill>
                  <a:srgbClr val="000000">
                    <a:tint val="75000"/>
                  </a:srgbClr>
                </a:solidFill>
                <a:latin typeface="Gill Sans MT" panose="020B0502020104020203" pitchFamily="34" charset="0"/>
                <a:ea typeface="PMingLiU" panose="02020500000000000000" pitchFamily="18" charset="-120"/>
              </a:rPr>
              <a:t>‹#›</a:t>
            </a:fld>
            <a:endParaRPr kumimoji="1" lang="zh-CN" altLang="en-US" dirty="0">
              <a:solidFill>
                <a:srgbClr val="000000">
                  <a:tint val="75000"/>
                </a:srgbClr>
              </a:solidFill>
              <a:latin typeface="Gill Sans MT" panose="020B0502020104020203" pitchFamily="34" charset="0"/>
              <a:ea typeface="PMingLiU" panose="02020500000000000000" pitchFamily="18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30" tIns="45715" rIns="91430" bIns="45715" rtlCol="0" anchor="ctr">
            <a:normAutofit/>
          </a:bodyPr>
          <a:lstStyle/>
          <a:p>
            <a:r>
              <a:rPr lang="en-US" altLang="zh-TW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en-US" altLang="zh-TW" dirty="0" smtClean="0"/>
              <a:t>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YYYY/MM/DD</a:t>
            </a:r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4F6FD-3A3C-4BEB-A0CF-E776CFFA096D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565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圓角矩形 14"/>
          <p:cNvSpPr/>
          <p:nvPr/>
        </p:nvSpPr>
        <p:spPr>
          <a:xfrm>
            <a:off x="5724525" y="457200"/>
            <a:ext cx="3171825" cy="2048747"/>
          </a:xfrm>
          <a:prstGeom prst="roundRect">
            <a:avLst>
              <a:gd name="adj" fmla="val 4781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主畫面選項有兩個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8449" t="12339" r="76861" b="53462"/>
          <a:stretch/>
        </p:blipFill>
        <p:spPr>
          <a:xfrm>
            <a:off x="249549" y="1536700"/>
            <a:ext cx="2146300" cy="30734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2666" y="1911302"/>
            <a:ext cx="1925053" cy="673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62666" y="2663300"/>
            <a:ext cx="1925053" cy="673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>
            <a:off x="2379289" y="2138183"/>
            <a:ext cx="187503" cy="220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2379289" y="2839643"/>
            <a:ext cx="187503" cy="220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803358" y="2094297"/>
            <a:ext cx="2339102" cy="3077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有視窗，</a:t>
            </a:r>
            <a:r>
              <a:rPr lang="zh-TW" altLang="en-US" dirty="0"/>
              <a:t>載圖後</a:t>
            </a:r>
            <a:r>
              <a:rPr lang="zh-TW" altLang="en-US" dirty="0" smtClean="0"/>
              <a:t>可看過程圖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803358" y="2817791"/>
            <a:ext cx="3007555" cy="3077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無視窗，載圖後直接存結果圖在</a:t>
            </a:r>
            <a:r>
              <a:rPr lang="en-US" altLang="zh-TW" dirty="0" smtClean="0"/>
              <a:t>D</a:t>
            </a:r>
            <a:r>
              <a:rPr lang="zh-TW" altLang="en-US" dirty="0" smtClean="0"/>
              <a:t>槽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409" y="3337069"/>
            <a:ext cx="1855000" cy="1465217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258" y="483572"/>
            <a:ext cx="2932308" cy="196522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5"/>
          <a:srcRect l="9517" t="8439" r="66139" b="15743"/>
          <a:stretch/>
        </p:blipFill>
        <p:spPr>
          <a:xfrm>
            <a:off x="7248525" y="2585070"/>
            <a:ext cx="1557490" cy="245670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5"/>
          <a:srcRect l="75689" t="8721" r="9180" b="48258"/>
          <a:stretch/>
        </p:blipFill>
        <p:spPr>
          <a:xfrm>
            <a:off x="5877473" y="2923816"/>
            <a:ext cx="1304492" cy="1878470"/>
          </a:xfrm>
          <a:prstGeom prst="rect">
            <a:avLst/>
          </a:prstGeom>
        </p:spPr>
      </p:pic>
      <p:sp>
        <p:nvSpPr>
          <p:cNvPr id="16" name="圓角矩形 15"/>
          <p:cNvSpPr/>
          <p:nvPr/>
        </p:nvSpPr>
        <p:spPr>
          <a:xfrm>
            <a:off x="5734050" y="2561353"/>
            <a:ext cx="3171825" cy="2582147"/>
          </a:xfrm>
          <a:prstGeom prst="roundRect">
            <a:avLst>
              <a:gd name="adj" fmla="val 5165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右箭號 16"/>
          <p:cNvSpPr/>
          <p:nvPr/>
        </p:nvSpPr>
        <p:spPr>
          <a:xfrm rot="19963079">
            <a:off x="5168698" y="2028180"/>
            <a:ext cx="187503" cy="220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右箭號 17"/>
          <p:cNvSpPr/>
          <p:nvPr/>
        </p:nvSpPr>
        <p:spPr>
          <a:xfrm rot="3137007">
            <a:off x="5478350" y="3121996"/>
            <a:ext cx="187503" cy="220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520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有視窗運算過程圖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46" y="804068"/>
            <a:ext cx="6474856" cy="4339431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667654" y="2662120"/>
            <a:ext cx="434075" cy="24327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1100" dirty="0" smtClean="0"/>
              <a:t>原圖</a:t>
            </a:r>
            <a:endParaRPr lang="zh-TW" altLang="en-US" sz="11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3545414" y="2662120"/>
            <a:ext cx="878949" cy="2616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TW" altLang="en-US" sz="1100" dirty="0" smtClean="0"/>
              <a:t>原圖做</a:t>
            </a:r>
            <a:r>
              <a:rPr lang="en-US" altLang="zh-TW" sz="1100" dirty="0" smtClean="0"/>
              <a:t>FFT</a:t>
            </a:r>
            <a:endParaRPr lang="zh-TW" altLang="en-US" sz="11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409762" y="2662120"/>
            <a:ext cx="1007707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 smtClean="0"/>
              <a:t>FFT</a:t>
            </a:r>
            <a:r>
              <a:rPr lang="zh-TW" altLang="en-US" sz="1100" dirty="0" smtClean="0"/>
              <a:t>做二值化</a:t>
            </a:r>
            <a:endParaRPr lang="zh-TW" altLang="en-US" sz="11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484177" y="4802059"/>
            <a:ext cx="1037893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100" dirty="0" smtClean="0"/>
              <a:t>二值化做遮罩</a:t>
            </a:r>
            <a:endParaRPr lang="zh-TW" altLang="en-US" sz="11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149668" y="4802059"/>
            <a:ext cx="1944846" cy="2616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 smtClean="0"/>
              <a:t>FFT And</a:t>
            </a:r>
            <a:r>
              <a:rPr lang="zh-TW" altLang="en-US" sz="1100" dirty="0" smtClean="0"/>
              <a:t> 二值化遮罩後</a:t>
            </a:r>
            <a:r>
              <a:rPr lang="en-US" altLang="zh-TW" sz="1100" dirty="0" smtClean="0"/>
              <a:t>IFFT</a:t>
            </a:r>
            <a:endParaRPr lang="zh-TW" altLang="en-US" sz="1100" dirty="0"/>
          </a:p>
        </p:txBody>
      </p:sp>
      <p:sp>
        <p:nvSpPr>
          <p:cNvPr id="10" name="向右箭號 9"/>
          <p:cNvSpPr/>
          <p:nvPr/>
        </p:nvSpPr>
        <p:spPr>
          <a:xfrm>
            <a:off x="2935664" y="2662120"/>
            <a:ext cx="169347" cy="2432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右箭號 10"/>
          <p:cNvSpPr/>
          <p:nvPr/>
        </p:nvSpPr>
        <p:spPr>
          <a:xfrm>
            <a:off x="4800010" y="2662120"/>
            <a:ext cx="169347" cy="2432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>
            <a:off x="2872048" y="4802059"/>
            <a:ext cx="169347" cy="2432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970415" y="4802059"/>
            <a:ext cx="169347" cy="2432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右箭號 13"/>
          <p:cNvSpPr/>
          <p:nvPr/>
        </p:nvSpPr>
        <p:spPr>
          <a:xfrm>
            <a:off x="6713845" y="2662120"/>
            <a:ext cx="169347" cy="2432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肘形接點 17"/>
          <p:cNvCxnSpPr>
            <a:stCxn id="14" idx="3"/>
            <a:endCxn id="13" idx="1"/>
          </p:cNvCxnSpPr>
          <p:nvPr/>
        </p:nvCxnSpPr>
        <p:spPr>
          <a:xfrm flipH="1">
            <a:off x="970415" y="2783756"/>
            <a:ext cx="5912777" cy="2139940"/>
          </a:xfrm>
          <a:prstGeom prst="bentConnector5">
            <a:avLst>
              <a:gd name="adj1" fmla="val -3595"/>
              <a:gd name="adj2" fmla="val 11921"/>
              <a:gd name="adj3" fmla="val 1035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798518" y="2068222"/>
            <a:ext cx="782085" cy="5938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6863747" y="1757325"/>
            <a:ext cx="1344452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100" dirty="0" smtClean="0"/>
              <a:t>二值化與遮罩參數</a:t>
            </a:r>
            <a:endParaRPr lang="zh-TW" altLang="en-US" sz="1100" dirty="0"/>
          </a:p>
        </p:txBody>
      </p:sp>
      <p:sp>
        <p:nvSpPr>
          <p:cNvPr id="22" name="矩形 21"/>
          <p:cNvSpPr/>
          <p:nvPr/>
        </p:nvSpPr>
        <p:spPr>
          <a:xfrm>
            <a:off x="6805603" y="1050293"/>
            <a:ext cx="716775" cy="4495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6863747" y="745306"/>
            <a:ext cx="1739233" cy="2616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100" dirty="0" smtClean="0"/>
              <a:t>點擊後會完成原圖到</a:t>
            </a:r>
            <a:r>
              <a:rPr lang="en-US" altLang="zh-TW" sz="1100" dirty="0" smtClean="0"/>
              <a:t>IFFT</a:t>
            </a:r>
            <a:endParaRPr lang="zh-TW" altLang="en-US" sz="1100" dirty="0"/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3"/>
          <a:srcRect l="3213" t="19064" r="17167" b="20869"/>
          <a:stretch/>
        </p:blipFill>
        <p:spPr>
          <a:xfrm>
            <a:off x="2160251" y="2067852"/>
            <a:ext cx="3738198" cy="431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4"/>
          <a:srcRect l="2448" t="14550" r="13627" b="25198"/>
          <a:stretch/>
        </p:blipFill>
        <p:spPr>
          <a:xfrm>
            <a:off x="2159538" y="4311675"/>
            <a:ext cx="3776782" cy="41098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2751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無視窗速度測試</a:t>
            </a:r>
            <a:r>
              <a:rPr lang="zh-TW" altLang="en-US" dirty="0"/>
              <a:t>≈</a:t>
            </a:r>
            <a:r>
              <a:rPr lang="en-US" altLang="zh-TW" dirty="0" smtClean="0"/>
              <a:t>500ms@</a:t>
            </a:r>
            <a:r>
              <a:rPr lang="zh-TW" altLang="en-US" dirty="0" smtClean="0"/>
              <a:t> </a:t>
            </a:r>
            <a:r>
              <a:rPr lang="en-US" altLang="zh-TW" dirty="0" smtClean="0"/>
              <a:t>RTX</a:t>
            </a:r>
            <a:r>
              <a:rPr lang="zh-TW" altLang="en-US" dirty="0" smtClean="0"/>
              <a:t> </a:t>
            </a:r>
            <a:r>
              <a:rPr lang="en-US" altLang="zh-TW" dirty="0" smtClean="0"/>
              <a:t>4070Ti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75689" t="8721" r="9180" b="48258"/>
          <a:stretch/>
        </p:blipFill>
        <p:spPr>
          <a:xfrm>
            <a:off x="866720" y="1727476"/>
            <a:ext cx="1304492" cy="187847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409" y="3337069"/>
            <a:ext cx="1855000" cy="1465217"/>
          </a:xfrm>
          <a:prstGeom prst="rect">
            <a:avLst/>
          </a:prstGeom>
        </p:spPr>
      </p:pic>
      <p:sp>
        <p:nvSpPr>
          <p:cNvPr id="7" name="向右箭號 6"/>
          <p:cNvSpPr/>
          <p:nvPr/>
        </p:nvSpPr>
        <p:spPr>
          <a:xfrm>
            <a:off x="3704148" y="1874878"/>
            <a:ext cx="284829" cy="1028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866720" y="2392680"/>
            <a:ext cx="1228780" cy="426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410408" y="3029292"/>
            <a:ext cx="3441968" cy="3077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直接</a:t>
            </a:r>
            <a:r>
              <a:rPr lang="zh-TW" altLang="en-US" dirty="0" smtClean="0"/>
              <a:t>載圖完成原圖到</a:t>
            </a:r>
            <a:r>
              <a:rPr lang="en-US" altLang="zh-TW" dirty="0" smtClean="0"/>
              <a:t>IFFT</a:t>
            </a:r>
            <a:r>
              <a:rPr lang="zh-TW" altLang="en-US" dirty="0" smtClean="0"/>
              <a:t>的流程，不顯示</a:t>
            </a:r>
            <a:endParaRPr lang="zh-TW" altLang="en-US" dirty="0"/>
          </a:p>
        </p:txBody>
      </p:sp>
      <p:grpSp>
        <p:nvGrpSpPr>
          <p:cNvPr id="13" name="群組 12"/>
          <p:cNvGrpSpPr/>
          <p:nvPr/>
        </p:nvGrpSpPr>
        <p:grpSpPr>
          <a:xfrm>
            <a:off x="6152532" y="1247810"/>
            <a:ext cx="2450447" cy="3865210"/>
            <a:chOff x="6091572" y="617220"/>
            <a:chExt cx="2869549" cy="452628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 rotWithShape="1">
            <a:blip r:embed="rId2"/>
            <a:srcRect l="9517" t="8439" r="66139" b="15743"/>
            <a:stretch/>
          </p:blipFill>
          <p:spPr>
            <a:xfrm>
              <a:off x="6091572" y="617220"/>
              <a:ext cx="2869549" cy="4526280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8382000" y="1028700"/>
              <a:ext cx="480060" cy="411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" name="文字方塊 10"/>
          <p:cNvSpPr txBox="1"/>
          <p:nvPr/>
        </p:nvSpPr>
        <p:spPr>
          <a:xfrm>
            <a:off x="4391660" y="779986"/>
            <a:ext cx="4352474" cy="3077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CUDA</a:t>
            </a:r>
            <a:r>
              <a:rPr lang="zh-TW" altLang="en-US" dirty="0" smtClean="0"/>
              <a:t>內原圖→</a:t>
            </a:r>
            <a:r>
              <a:rPr lang="en-US" altLang="zh-TW" dirty="0" smtClean="0"/>
              <a:t>FFT</a:t>
            </a:r>
            <a:r>
              <a:rPr lang="zh-TW" altLang="en-US" dirty="0" smtClean="0"/>
              <a:t>→遮罩→</a:t>
            </a:r>
            <a:r>
              <a:rPr lang="en-US" altLang="zh-TW" dirty="0" smtClean="0"/>
              <a:t>IFFT</a:t>
            </a:r>
            <a:r>
              <a:rPr lang="zh-TW" altLang="en-US" dirty="0" smtClean="0"/>
              <a:t>花費的時間≈</a:t>
            </a:r>
            <a:r>
              <a:rPr lang="en-US" altLang="zh-TW" dirty="0" smtClean="0"/>
              <a:t>500ms</a:t>
            </a:r>
            <a:endParaRPr lang="zh-TW" alt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157" y="1087763"/>
            <a:ext cx="2257740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7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相關專案說明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292468" y="1161907"/>
            <a:ext cx="2502986" cy="3340612"/>
            <a:chOff x="5967311" y="686515"/>
            <a:chExt cx="3116742" cy="4159763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 rotWithShape="1">
            <a:blip r:embed="rId2"/>
            <a:srcRect l="13753" t="2046" r="4569" b="1"/>
            <a:stretch/>
          </p:blipFill>
          <p:spPr>
            <a:xfrm>
              <a:off x="6476428" y="686515"/>
              <a:ext cx="2098508" cy="4159763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6476428" y="1904427"/>
              <a:ext cx="2098508" cy="1512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967311" y="1381426"/>
              <a:ext cx="3116742" cy="38324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dirty="0" smtClean="0"/>
                <a:t>相關</a:t>
              </a:r>
              <a:r>
                <a:rPr lang="en-US" altLang="zh-TW" dirty="0" smtClean="0"/>
                <a:t>CUDA</a:t>
              </a:r>
              <a:r>
                <a:rPr lang="zh-TW" altLang="en-US" dirty="0" smtClean="0"/>
                <a:t>程式碼都在這裡面</a:t>
              </a:r>
              <a:endParaRPr lang="zh-TW" altLang="en-US" dirty="0"/>
            </a:p>
          </p:txBody>
        </p:sp>
      </p:grp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460" y="1050832"/>
            <a:ext cx="5609254" cy="222149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3822605" y="756271"/>
            <a:ext cx="902811" cy="3077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主要函式</a:t>
            </a:r>
            <a:endParaRPr lang="zh-TW" altLang="en-US" dirty="0"/>
          </a:p>
        </p:txBody>
      </p:sp>
      <p:sp>
        <p:nvSpPr>
          <p:cNvPr id="14" name="向右箭號 13"/>
          <p:cNvSpPr/>
          <p:nvPr/>
        </p:nvSpPr>
        <p:spPr>
          <a:xfrm rot="19839742">
            <a:off x="2838038" y="1328398"/>
            <a:ext cx="165004" cy="302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ExcuteFFT2D簡化流程圖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6" t="10573" r="24742" b="34539"/>
          <a:stretch/>
        </p:blipFill>
        <p:spPr bwMode="auto">
          <a:xfrm>
            <a:off x="4429073" y="1504573"/>
            <a:ext cx="2980027" cy="301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9260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AUO.NEW.1">
  <a:themeElements>
    <a:clrScheme name="AU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087"/>
      </a:accent1>
      <a:accent2>
        <a:srgbClr val="64DCF0"/>
      </a:accent2>
      <a:accent3>
        <a:srgbClr val="FFE664"/>
      </a:accent3>
      <a:accent4>
        <a:srgbClr val="B491D7"/>
      </a:accent4>
      <a:accent5>
        <a:srgbClr val="87DC64"/>
      </a:accent5>
      <a:accent6>
        <a:srgbClr val="147891"/>
      </a:accent6>
      <a:hlink>
        <a:srgbClr val="64DCF0"/>
      </a:hlink>
      <a:folHlink>
        <a:srgbClr val="414141"/>
      </a:folHlink>
    </a:clrScheme>
    <a:fontScheme name="Custom 9">
      <a:majorFont>
        <a:latin typeface="Mabry Pro Medium"/>
        <a:ea typeface="Noto Sans SC Medium"/>
        <a:cs typeface="MabryPro-Bold"/>
      </a:majorFont>
      <a:minorFont>
        <a:latin typeface="Mabry Pro"/>
        <a:ea typeface="Noto Sans SC"/>
        <a:cs typeface="MabryPro-Bold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AUO.NEW.1">
  <a:themeElements>
    <a:clrScheme name="AU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087"/>
      </a:accent1>
      <a:accent2>
        <a:srgbClr val="64DCF0"/>
      </a:accent2>
      <a:accent3>
        <a:srgbClr val="FFE664"/>
      </a:accent3>
      <a:accent4>
        <a:srgbClr val="B491D7"/>
      </a:accent4>
      <a:accent5>
        <a:srgbClr val="87DC64"/>
      </a:accent5>
      <a:accent6>
        <a:srgbClr val="147891"/>
      </a:accent6>
      <a:hlink>
        <a:srgbClr val="64DCF0"/>
      </a:hlink>
      <a:folHlink>
        <a:srgbClr val="414141"/>
      </a:folHlink>
    </a:clrScheme>
    <a:fontScheme name="Custom 9">
      <a:majorFont>
        <a:latin typeface="Mabry Pro Medium"/>
        <a:ea typeface="Noto Sans SC Medium"/>
        <a:cs typeface="MabryPro-Bold"/>
      </a:majorFont>
      <a:minorFont>
        <a:latin typeface="Mabry Pro"/>
        <a:ea typeface="Noto Sans SC"/>
        <a:cs typeface="MabryPro-Bold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5_Office 佈景主題">
  <a:themeElements>
    <a:clrScheme name="AU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087"/>
      </a:accent1>
      <a:accent2>
        <a:srgbClr val="64DCF0"/>
      </a:accent2>
      <a:accent3>
        <a:srgbClr val="FFE664"/>
      </a:accent3>
      <a:accent4>
        <a:srgbClr val="B491D7"/>
      </a:accent4>
      <a:accent5>
        <a:srgbClr val="87DC64"/>
      </a:accent5>
      <a:accent6>
        <a:srgbClr val="147891"/>
      </a:accent6>
      <a:hlink>
        <a:srgbClr val="64DCF0"/>
      </a:hlink>
      <a:folHlink>
        <a:srgbClr val="414141"/>
      </a:folHlink>
    </a:clrScheme>
    <a:fontScheme name="Custom 14">
      <a:majorFont>
        <a:latin typeface="Mabry Pro Medium"/>
        <a:ea typeface="Noto Sans TC Medium"/>
        <a:cs typeface="MabryPro-Bold"/>
      </a:majorFont>
      <a:minorFont>
        <a:latin typeface="Mabry Pro"/>
        <a:ea typeface="Noto Sans TC"/>
        <a:cs typeface="MabryPro-Bold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AUO_PPT_template_white_en_n_sc.</Template>
  <TotalTime>42</TotalTime>
  <Words>123</Words>
  <Application>Microsoft Office PowerPoint</Application>
  <PresentationFormat>如螢幕大小 (16:9)</PresentationFormat>
  <Paragraphs>17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17</vt:i4>
      </vt:variant>
      <vt:variant>
        <vt:lpstr>投影片標題</vt:lpstr>
      </vt:variant>
      <vt:variant>
        <vt:i4>4</vt:i4>
      </vt:variant>
    </vt:vector>
  </HeadingPairs>
  <TitlesOfParts>
    <vt:vector size="35" baseType="lpstr">
      <vt:lpstr>Noto Sans SC</vt:lpstr>
      <vt:lpstr>Noto Sans SC Medium</vt:lpstr>
      <vt:lpstr>Noto Sans TC</vt:lpstr>
      <vt:lpstr>Noto Sans TC Medium</vt:lpstr>
      <vt:lpstr>新細明體</vt:lpstr>
      <vt:lpstr>新細明體</vt:lpstr>
      <vt:lpstr>Arial</vt:lpstr>
      <vt:lpstr>Calibri</vt:lpstr>
      <vt:lpstr>Calibri Light</vt:lpstr>
      <vt:lpstr>Gill Sans MT</vt:lpstr>
      <vt:lpstr>Helvetica</vt:lpstr>
      <vt:lpstr>Mabry Pro</vt:lpstr>
      <vt:lpstr>Mabry Pro Medium</vt:lpstr>
      <vt:lpstr>MabryPro-Bold</vt:lpstr>
      <vt:lpstr>Template PresentationGO</vt:lpstr>
      <vt:lpstr>1_Template PresentationGO</vt:lpstr>
      <vt:lpstr>2_Template PresentationGO</vt:lpstr>
      <vt:lpstr>3_Template PresentationGO</vt:lpstr>
      <vt:lpstr>4_Template PresentationGO</vt:lpstr>
      <vt:lpstr>5_Template PresentationGO</vt:lpstr>
      <vt:lpstr>6_Template PresentationGO</vt:lpstr>
      <vt:lpstr>7_Template PresentationGO</vt:lpstr>
      <vt:lpstr>8_Template PresentationGO</vt:lpstr>
      <vt:lpstr>9_Template PresentationGO</vt:lpstr>
      <vt:lpstr>10_Template PresentationGO</vt:lpstr>
      <vt:lpstr>11_Template PresentationGO</vt:lpstr>
      <vt:lpstr>12_Template PresentationGO</vt:lpstr>
      <vt:lpstr>13_Template PresentationGO</vt:lpstr>
      <vt:lpstr>1_AUO.NEW.1</vt:lpstr>
      <vt:lpstr>2_AUO.NEW.1</vt:lpstr>
      <vt:lpstr>5_Office 佈景主題</vt:lpstr>
      <vt:lpstr>主畫面選項有兩個</vt:lpstr>
      <vt:lpstr>有視窗運算過程圖</vt:lpstr>
      <vt:lpstr>無視窗速度測試≈500ms@ RTX 4070Ti </vt:lpstr>
      <vt:lpstr>相關專案說明</vt:lpstr>
    </vt:vector>
  </TitlesOfParts>
  <Company>AUO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主要效益:專案效益(省人/良率/Cost down)</dc:title>
  <dc:creator>yuanchengtsai</dc:creator>
  <cp:lastModifiedBy>Kino Chou 周銘章</cp:lastModifiedBy>
  <cp:revision>30658</cp:revision>
  <cp:lastPrinted>2025-10-27T04:00:00Z</cp:lastPrinted>
  <dcterms:created xsi:type="dcterms:W3CDTF">2022-08-17T03:03:00Z</dcterms:created>
  <dcterms:modified xsi:type="dcterms:W3CDTF">2026-03-27T03:17:37Z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FBA3F4BFC03E4C7FA04B8A62E2393096</vt:lpwstr>
  </property>
  <property fmtid="{D5CDD505-2E9C-101B-9397-08002B2CF9AE}" pid="3" name="KSOProductBuildVer">
    <vt:lpwstr>2052-11.8.2.11813</vt:lpwstr>
  </property>
</Properties>
</file>